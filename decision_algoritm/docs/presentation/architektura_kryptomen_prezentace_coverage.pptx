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F"/>
          </a:solidFill>
          <a:ln w="12700">
            <a:solidFill>
              <a:srgbClr val="F9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0"/>
            <a:ext cx="146304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17320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522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Vyhledávání vzorů a technické analýzy kryptoměn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32688" y="274320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085"/>
                </a:solidFill>
              </a:rPr>
              <a:t>Architektura systému pro validaci obchodních pravidel, AI analýzu textů a prezentaci výsledků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41832" y="370332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776472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Python strategie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42032" y="3703320"/>
            <a:ext cx="1298448" cy="329184"/>
          </a:xfrm>
          <a:prstGeom prst="roundRect">
            <a:avLst>
              <a:gd name="adj" fmla="val 22222"/>
            </a:avLst>
          </a:prstGeom>
          <a:solidFill>
            <a:srgbClr val="EAF8E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3776472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PHP backend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023360" y="3703320"/>
            <a:ext cx="896112" cy="329184"/>
          </a:xfrm>
          <a:prstGeom prst="roundRect">
            <a:avLst>
              <a:gd name="adj" fmla="val 22222"/>
            </a:avLst>
          </a:prstGeom>
          <a:solidFill>
            <a:srgbClr val="FFF5D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33088" y="3776472"/>
            <a:ext cx="676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MySQL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102352" y="3703320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E6F7F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3776472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AI wrapper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50976" y="5779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5"/>
                </a:solidFill>
              </a:rPr>
              <a:t>Software Architecture Document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195560" y="57150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2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Cíl projektu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9418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085"/>
                </a:solidFill>
              </a:rPr>
              <a:t>Co má systém ověřit a proč vzniká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236"/>
                </a:solidFill>
              </a:rPr>
              <a:t>Validovat obchodní pravidla nad reálnými kryptoměnovými daty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68680" y="29992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292608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52236"/>
                </a:solidFill>
              </a:rPr>
              <a:t>generování signálů BUY / SELL / HOLD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3474720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3401568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52236"/>
                </a:solidFill>
              </a:rPr>
              <a:t>kombinace technické analýzy a tržního sentimentu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395020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3877056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52236"/>
                </a:solidFill>
              </a:rPr>
              <a:t>ověření potenciálního zisku nebo ztráty pomocí backtestingu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442569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435254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52236"/>
                </a:solidFill>
              </a:rPr>
              <a:t>doplnění rozhodování o AI analýzu externích textů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0" y="178308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Výstupem není pouze obchodní bot, ale architektura propojující analytiku, backend, databázi a prezentační vrstvu.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818120" y="1691640"/>
            <a:ext cx="0" cy="3108960"/>
          </a:xfrm>
          <a:prstGeom prst="line">
            <a:avLst/>
          </a:prstGeom>
          <a:noFill/>
          <a:ln w="15240">
            <a:solidFill>
              <a:srgbClr val="D6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Architecture Document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29284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2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Rozsah řešení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9418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085"/>
                </a:solidFill>
              </a:rPr>
              <a:t>Dvě související části: analytická a webová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49808" y="1508760"/>
            <a:ext cx="507492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6DEE8">
                <a:alpha val="9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508760"/>
            <a:ext cx="73152" cy="397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099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2236"/>
                </a:solidFill>
              </a:rPr>
              <a:t>Python trading část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4663440" cy="3227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5"/>
                </a:solidFill>
              </a:rPr>
              <a:t>Načítá data z Binance a CoinMarketCap, počítá SMA/EMA, vyhodnocuje strategii a ukládá rozhodnutí a obchody.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355080" y="1508760"/>
            <a:ext cx="507492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6DEE8">
                <a:alpha val="9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508760"/>
            <a:ext cx="73152" cy="3977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1112" y="17099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2236"/>
                </a:solidFill>
              </a:rPr>
              <a:t>PHP backend a webová část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11112" y="2103120"/>
            <a:ext cx="4663440" cy="3227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5"/>
                </a:solidFill>
              </a:rPr>
              <a:t>Zajišťuje endpointy pro AI analýzu článků, historii událostí, Fear and Greed index a data zobrazovaná na webu serious.broker.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143000" y="4919472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52728" y="4992624"/>
            <a:ext cx="740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Binance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267712" y="4919472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4992624"/>
            <a:ext cx="832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SMA / EMA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93008" y="4919472"/>
            <a:ext cx="1207008" cy="329184"/>
          </a:xfrm>
          <a:prstGeom prst="roundRect">
            <a:avLst>
              <a:gd name="adj" fmla="val 22222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02736" y="4992624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Backtesting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748272" y="4919472"/>
            <a:ext cx="1207008" cy="329184"/>
          </a:xfrm>
          <a:prstGeom prst="roundRect">
            <a:avLst>
              <a:gd name="adj" fmla="val 22222"/>
            </a:avLst>
          </a:prstGeom>
          <a:solidFill>
            <a:srgbClr val="EAF8E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4992624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OpenRouter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138160" y="4919472"/>
            <a:ext cx="896112" cy="329184"/>
          </a:xfrm>
          <a:prstGeom prst="roundRect">
            <a:avLst>
              <a:gd name="adj" fmla="val 22222"/>
            </a:avLst>
          </a:prstGeom>
          <a:solidFill>
            <a:srgbClr val="EAF8E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47888" y="4992624"/>
            <a:ext cx="676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Články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217152" y="4919472"/>
            <a:ext cx="658368" cy="329184"/>
          </a:xfrm>
          <a:prstGeom prst="roundRect">
            <a:avLst>
              <a:gd name="adj" fmla="val 22222"/>
            </a:avLst>
          </a:prstGeom>
          <a:solidFill>
            <a:srgbClr val="EAF8E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0" y="499262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FGI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Architecture Document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29284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2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Klíčové případy užití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9418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085"/>
                </a:solidFill>
              </a:rPr>
              <a:t>Co uživatel nebo systém reálně spouští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EE8">
                <a:alpha val="9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50876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7099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2236"/>
                </a:solidFill>
              </a:rPr>
              <a:t>Vyhodnocení strategie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33272" y="2103120"/>
            <a:ext cx="4663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5"/>
                </a:solidFill>
              </a:rPr>
              <a:t>Aplikace načte ceny a sentiment, vypočítá indikátor a vrátí BUY / SELL / HOLD.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63640" y="150876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EE8">
                <a:alpha val="9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508760"/>
            <a:ext cx="73152" cy="1417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17099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2236"/>
                </a:solidFill>
              </a:rPr>
              <a:t>Backtesting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19672" y="2103120"/>
            <a:ext cx="4663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5"/>
                </a:solidFill>
              </a:rPr>
              <a:t>Historická data slouží k ověření úspěšnosti pravidel před praktickým použitím.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7240" y="365760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EE8">
                <a:alpha val="9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657600"/>
            <a:ext cx="73152" cy="1417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3272" y="38587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2236"/>
                </a:solidFill>
              </a:rPr>
              <a:t>AI analýza textu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33272" y="4251960"/>
            <a:ext cx="4663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5"/>
                </a:solidFill>
              </a:rPr>
              <a:t>Uživatel zadá text nebo URL článku, backend vrátí sentiment, skóre a vysvětlení.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63640" y="365760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EE8">
                <a:alpha val="9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3657600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9672" y="38587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2236"/>
                </a:solidFill>
              </a:rPr>
              <a:t>Prezentace výsledků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19672" y="4251960"/>
            <a:ext cx="4663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5"/>
                </a:solidFill>
              </a:rPr>
              <a:t>Web zobrazuje historii událostí, Fear and Greed index a uložené analýzy.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Architecture Document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9284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2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Logický pohled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9418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085"/>
                </a:solidFill>
              </a:rPr>
              <a:t>Hlavní tok dat a odpovědností v systému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2651760"/>
            <a:ext cx="141732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79806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Externí zdroje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40664" y="3090672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07085"/>
                </a:solidFill>
              </a:rPr>
              <a:t>Binance, CMC, články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2011680" y="3081528"/>
            <a:ext cx="301752" cy="0"/>
          </a:xfrm>
          <a:prstGeom prst="line">
            <a:avLst/>
          </a:prstGeom>
          <a:noFill/>
          <a:ln w="16510">
            <a:solidFill>
              <a:srgbClr val="60708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23160" y="2651760"/>
            <a:ext cx="141732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279806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B6D4"/>
                </a:solidFill>
              </a:rPr>
              <a:t>Datová vrstva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69464" y="3090672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07085"/>
                </a:solidFill>
              </a:rPr>
              <a:t>REST API, konfigurace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3840480" y="3081528"/>
            <a:ext cx="301752" cy="0"/>
          </a:xfrm>
          <a:prstGeom prst="line">
            <a:avLst/>
          </a:prstGeom>
          <a:noFill/>
          <a:ln w="16510">
            <a:solidFill>
              <a:srgbClr val="60708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51960" y="2651760"/>
            <a:ext cx="141732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279806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Indikátory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98264" y="3090672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07085"/>
                </a:solidFill>
              </a:rPr>
              <a:t>SMA / EMA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5669280" y="3081528"/>
            <a:ext cx="301752" cy="0"/>
          </a:xfrm>
          <a:prstGeom prst="line">
            <a:avLst/>
          </a:prstGeom>
          <a:noFill/>
          <a:ln w="16510">
            <a:solidFill>
              <a:srgbClr val="60708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080760" y="2651760"/>
            <a:ext cx="141732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79806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Strategie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27064" y="3090672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07085"/>
                </a:solidFill>
              </a:rPr>
              <a:t>BUY / SELL / HOLD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7498080" y="3081528"/>
            <a:ext cx="301752" cy="0"/>
          </a:xfrm>
          <a:prstGeom prst="line">
            <a:avLst/>
          </a:prstGeom>
          <a:noFill/>
          <a:ln w="16510">
            <a:solidFill>
              <a:srgbClr val="607085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909560" y="2651760"/>
            <a:ext cx="141732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0" y="279806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Uložení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55864" y="3090672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07085"/>
                </a:solidFill>
              </a:rPr>
              <a:t>MySQL + logy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9326880" y="3081528"/>
            <a:ext cx="301752" cy="0"/>
          </a:xfrm>
          <a:prstGeom prst="line">
            <a:avLst/>
          </a:prstGeom>
          <a:noFill/>
          <a:ln w="16510">
            <a:solidFill>
              <a:srgbClr val="607085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738360" y="2651760"/>
            <a:ext cx="141732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0" y="279806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Prezentace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884664" y="3090672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07085"/>
                </a:solidFill>
              </a:rPr>
              <a:t>Web + statistiky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1097280" y="48006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2236"/>
                </a:solidFill>
              </a:rPr>
              <a:t>Oddělení modulů umožňuje měnit indikátory, strategii nebo AI wrapper bez přepisování celé aplikace.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Architecture Document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29284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2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Procesní pohled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9418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085"/>
                </a:solidFill>
              </a:rPr>
              <a:t>Jeden synchronní obchodní cyklus Python části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956816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8912" y="25877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2236"/>
                </a:solidFill>
              </a:rPr>
              <a:t>Spuštění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4048" y="2944368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07085"/>
                </a:solidFill>
              </a:rPr>
              <a:t>CLI nebo plánovač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1325880" y="2093976"/>
            <a:ext cx="923544" cy="0"/>
          </a:xfrm>
          <a:prstGeom prst="line">
            <a:avLst/>
          </a:prstGeom>
          <a:noFill/>
          <a:ln w="16510">
            <a:solidFill>
              <a:srgbClr val="D6DEE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06040" y="1828800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0632" y="1956816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13432" y="25877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2236"/>
                </a:solidFill>
              </a:rPr>
              <a:t>Načtení dat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258568" y="2944368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07085"/>
                </a:solidFill>
              </a:rPr>
              <a:t>ceny + FGI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3200400" y="2093976"/>
            <a:ext cx="923544" cy="0"/>
          </a:xfrm>
          <a:prstGeom prst="line">
            <a:avLst/>
          </a:prstGeom>
          <a:noFill/>
          <a:ln w="16510">
            <a:solidFill>
              <a:srgbClr val="D6DEE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480560" y="1828800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1956816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87952" y="25877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2236"/>
                </a:solidFill>
              </a:rPr>
              <a:t>Výpočet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133088" y="2944368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07085"/>
                </a:solidFill>
              </a:rPr>
              <a:t>SMA nebo EMA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5074920" y="2093976"/>
            <a:ext cx="923544" cy="0"/>
          </a:xfrm>
          <a:prstGeom prst="line">
            <a:avLst/>
          </a:prstGeom>
          <a:noFill/>
          <a:ln w="16510">
            <a:solidFill>
              <a:srgbClr val="D6DEE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55080" y="1828800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9672" y="1956816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62472" y="25877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2236"/>
                </a:solidFill>
              </a:rPr>
              <a:t>Rozhodnutí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007608" y="2944368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07085"/>
                </a:solidFill>
              </a:rPr>
              <a:t>BUY / SELL / HOLD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6949440" y="2093976"/>
            <a:ext cx="923544" cy="0"/>
          </a:xfrm>
          <a:prstGeom prst="line">
            <a:avLst/>
          </a:prstGeom>
          <a:noFill/>
          <a:ln w="16510">
            <a:solidFill>
              <a:srgbClr val="D6DEE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229600" y="1828800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94192" y="1956816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36992" y="25877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2236"/>
                </a:solidFill>
              </a:rPr>
              <a:t>Exekuce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882128" y="2944368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07085"/>
                </a:solidFill>
              </a:rPr>
              <a:t>limity + zůstatky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8823960" y="2093976"/>
            <a:ext cx="923544" cy="0"/>
          </a:xfrm>
          <a:prstGeom prst="line">
            <a:avLst/>
          </a:prstGeom>
          <a:noFill/>
          <a:ln w="16510">
            <a:solidFill>
              <a:srgbClr val="D6DEE8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104120" y="1828800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68712" y="1956816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811512" y="25877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2236"/>
                </a:solidFill>
              </a:rPr>
              <a:t>Záznam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756648" y="2944368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07085"/>
                </a:solidFill>
              </a:rPr>
              <a:t>MySQL + logy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1051560" y="47548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6"/>
                </a:solidFill>
              </a:rPr>
              <a:t>V režimu --once proběhne jeden cyklus. V nepřetržitém režimu se cyklus opakuje podle intervalu v konfiguraci.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Architecture Document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29284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2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wrapper a webový backend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9418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085"/>
                </a:solidFill>
              </a:rPr>
              <a:t>Doplňková fundamentální analýza nad externími texty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146304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3865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Uživatel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69264" y="267919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07085"/>
                </a:solidFill>
              </a:rPr>
              <a:t>text nebo URL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2304288" y="2670048"/>
            <a:ext cx="576072" cy="0"/>
          </a:xfrm>
          <a:prstGeom prst="line">
            <a:avLst/>
          </a:prstGeom>
          <a:noFill/>
          <a:ln w="16510">
            <a:solidFill>
              <a:srgbClr val="60708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035808" y="2240280"/>
            <a:ext cx="146304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2968" y="23865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PHP endpoint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182112" y="267919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07085"/>
                </a:solidFill>
              </a:rPr>
              <a:t>internal/ai-wrapper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4517136" y="2670048"/>
            <a:ext cx="576072" cy="0"/>
          </a:xfrm>
          <a:prstGeom prst="line">
            <a:avLst/>
          </a:prstGeom>
          <a:noFill/>
          <a:ln w="16510">
            <a:solidFill>
              <a:srgbClr val="60708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48656" y="2240280"/>
            <a:ext cx="146304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85816" y="23865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B6D4"/>
                </a:solidFill>
              </a:rPr>
              <a:t>OpenRouter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94960" y="267919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07085"/>
                </a:solidFill>
              </a:rPr>
              <a:t>LLM odpověď JSON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729984" y="2670048"/>
            <a:ext cx="576072" cy="0"/>
          </a:xfrm>
          <a:prstGeom prst="line">
            <a:avLst/>
          </a:prstGeom>
          <a:noFill/>
          <a:ln w="16510">
            <a:solidFill>
              <a:srgbClr val="60708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61504" y="2240280"/>
            <a:ext cx="146304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98664" y="23865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MySQL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607808" y="267919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07085"/>
                </a:solidFill>
              </a:rPr>
              <a:t>ai_analysis_results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8942832" y="2670048"/>
            <a:ext cx="576072" cy="0"/>
          </a:xfrm>
          <a:prstGeom prst="line">
            <a:avLst/>
          </a:prstGeom>
          <a:noFill/>
          <a:ln w="16510">
            <a:solidFill>
              <a:srgbClr val="607085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74352" y="2240280"/>
            <a:ext cx="146304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11512" y="23865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Web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820656" y="267919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07085"/>
                </a:solidFill>
              </a:rPr>
              <a:t>zobrazení výsledku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1234440" y="4416552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35608" y="4343400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52236"/>
                </a:solidFill>
              </a:rPr>
              <a:t>výstup: sentiment, skóre a krátké vysvětlení v češtině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234440" y="4828032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35608" y="4754880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52236"/>
                </a:solidFill>
              </a:rPr>
              <a:t>uložení výsledku umožňuje historii analýz a statistiky sentimentu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234440" y="5239512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35608" y="5166360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52236"/>
                </a:solidFill>
              </a:rPr>
              <a:t>AI část je oddělená od obchodní logiky Python strategie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Architecture Document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29284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2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Pohled nasazení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9418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085"/>
                </a:solidFill>
              </a:rPr>
              <a:t>Jednoduché nasazení bez zbytečné kontejnerizace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68680" y="1508760"/>
            <a:ext cx="3246120" cy="34747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6DEE8">
                <a:alpha val="9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508760"/>
            <a:ext cx="73152" cy="3474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17099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2236"/>
                </a:solidFill>
              </a:rPr>
              <a:t>Python proces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24712" y="2103120"/>
            <a:ext cx="283464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5"/>
                </a:solidFill>
              </a:rPr>
              <a:t>Spouštění strategií, výpočet indikátorů, práce s Binance API a ukládání rozhodnutí.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80560" y="1508760"/>
            <a:ext cx="3246120" cy="34747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6DEE8">
                <a:alpha val="9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508760"/>
            <a:ext cx="73152" cy="3474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7099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2236"/>
                </a:solidFill>
              </a:rPr>
              <a:t>PHP backend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36592" y="2103120"/>
            <a:ext cx="283464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5"/>
                </a:solidFill>
              </a:rPr>
              <a:t>HTTP endpointy pro web, AI wrapper, články, FGI a historické události.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92440" y="1508760"/>
            <a:ext cx="3246120" cy="34747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6DEE8">
                <a:alpha val="9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508760"/>
            <a:ext cx="73152" cy="3474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17099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2236"/>
                </a:solidFill>
              </a:rPr>
              <a:t>MySQL databáze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48472" y="2103120"/>
            <a:ext cx="283464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5"/>
                </a:solidFill>
              </a:rPr>
              <a:t>Sdílená perzistence pro výsledky strategií, obchody, AI analýzy a webová data.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0" y="3200400"/>
            <a:ext cx="320040" cy="0"/>
          </a:xfrm>
          <a:prstGeom prst="line">
            <a:avLst/>
          </a:prstGeom>
          <a:noFill/>
          <a:ln w="16510">
            <a:solidFill>
              <a:srgbClr val="60708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26680" y="3200400"/>
            <a:ext cx="320040" cy="0"/>
          </a:xfrm>
          <a:prstGeom prst="line">
            <a:avLst/>
          </a:prstGeom>
          <a:noFill/>
          <a:ln w="16510">
            <a:solidFill>
              <a:srgbClr val="607085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097280" y="548640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236"/>
                </a:solidFill>
              </a:rPr>
              <a:t>Citlivé údaje jsou mimo zdrojový kód v .env / systémových proměnných.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Architecture Document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29284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2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Kvalita architektury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9418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085"/>
                </a:solidFill>
              </a:rPr>
              <a:t>Co návrh chrání a co umožňuje dál rozvíjet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3337560" cy="4114800"/>
          </a:xfrm>
          <a:prstGeom prst="roundRect">
            <a:avLst>
              <a:gd name="adj" fmla="val 2192"/>
            </a:avLst>
          </a:prstGeom>
          <a:solidFill>
            <a:srgbClr val="EAF2FF"/>
          </a:solidFill>
          <a:ln w="12700">
            <a:solidFill>
              <a:srgbClr val="D6DEE8">
                <a:alpha val="9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73152" cy="4114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6184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2236"/>
                </a:solidFill>
              </a:rPr>
              <a:t>Spolehlivost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33272" y="2011680"/>
            <a:ext cx="292608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5"/>
                </a:solidFill>
              </a:rPr>
              <a:t>Při chybě API nebo chybějících datech systém nepokračuje agresivně, ale vrací bezpečný stav HOLD.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337560" cy="4114800"/>
          </a:xfrm>
          <a:prstGeom prst="roundRect">
            <a:avLst>
              <a:gd name="adj" fmla="val 2192"/>
            </a:avLst>
          </a:prstGeom>
          <a:solidFill>
            <a:srgbClr val="EAF8EF"/>
          </a:solidFill>
          <a:ln w="12700">
            <a:solidFill>
              <a:srgbClr val="D6DEE8">
                <a:alpha val="9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417320"/>
            <a:ext cx="73152" cy="4114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16184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2236"/>
                </a:solidFill>
              </a:rPr>
              <a:t>Rozšiřitelnost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90872" y="2011680"/>
            <a:ext cx="292608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5"/>
                </a:solidFill>
              </a:rPr>
              <a:t>Nový indikátor nebo datový zdroj lze přidat jako samostatný modul bez zásahu do celé architektury.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92440" y="1417320"/>
            <a:ext cx="3337560" cy="4114800"/>
          </a:xfrm>
          <a:prstGeom prst="roundRect">
            <a:avLst>
              <a:gd name="adj" fmla="val 2192"/>
            </a:avLst>
          </a:prstGeom>
          <a:solidFill>
            <a:srgbClr val="FFF5DD"/>
          </a:solidFill>
          <a:ln w="12700">
            <a:solidFill>
              <a:srgbClr val="D6DEE8">
                <a:alpha val="9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417320"/>
            <a:ext cx="73152" cy="4114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16184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2236"/>
                </a:solidFill>
              </a:rPr>
              <a:t>Bezpečnost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48472" y="2011680"/>
            <a:ext cx="292608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5"/>
                </a:solidFill>
              </a:rPr>
              <a:t>API klíče jsou mimo repozitář, obchodování lze ověřovat přes dry_run a testy mockují riziková volání.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Architecture Document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29284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2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Testování a CI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9418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085"/>
                </a:solidFill>
              </a:rPr>
              <a:t>Ověření analytické logiky i komunikace s externími službami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68680" y="15087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PyTest + GitHub Actions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96112" y="23134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24028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52236"/>
                </a:solidFill>
              </a:rPr>
              <a:t>jednotkové testy výpočtů a pomocných funkcí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96112" y="27706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69748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52236"/>
                </a:solidFill>
              </a:rPr>
              <a:t>testy chování při chybě API nebo chybějící konfiguraci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896112" y="3227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15468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52236"/>
                </a:solidFill>
              </a:rPr>
              <a:t>mockování obchodních příkazů, aby nevznikly reálné obchody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896112" y="36850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61188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52236"/>
                </a:solidFill>
              </a:rPr>
              <a:t>automatické spuštění testů v CI po změnách v repozitáři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7909560" y="160020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52236"/>
          </a:solidFill>
          <a:ln w="12700">
            <a:solidFill>
              <a:srgbClr val="1522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7739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30 / 30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75320" y="2130552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D6DEE8"/>
                </a:solidFill>
              </a:rPr>
              <a:t>testů prošlo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7909560" y="2743200"/>
            <a:ext cx="1207008" cy="896112"/>
          </a:xfrm>
          <a:prstGeom prst="roundRect">
            <a:avLst>
              <a:gd name="adj" fmla="val 816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295351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9 %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101584" y="325526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FFE4E4"/>
                </a:solidFill>
              </a:rPr>
              <a:t>celkem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9308592" y="2743200"/>
            <a:ext cx="1207008" cy="896112"/>
          </a:xfrm>
          <a:prstGeom prst="roundRect">
            <a:avLst>
              <a:gd name="adj" fmla="val 816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28048" y="29535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83 %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400032" y="3255264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EAF8EF"/>
                </a:solidFill>
              </a:rPr>
              <a:t>testované moduly</a:t>
            </a:r>
            <a:endParaRPr lang="en-US" sz="660" dirty="0"/>
          </a:p>
        </p:txBody>
      </p:sp>
      <p:sp>
        <p:nvSpPr>
          <p:cNvPr id="23" name="Text 21"/>
          <p:cNvSpPr/>
          <p:nvPr/>
        </p:nvSpPr>
        <p:spPr>
          <a:xfrm>
            <a:off x="7818120" y="39776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07085"/>
                </a:solidFill>
              </a:rPr>
              <a:t>Coverage měří vykonané řádky v nastaveném rozsahu. Nízké celkové číslo vzniká tím, že provozní moduly pro trading loop, databázi a exekuci zatím nejsou plně pokryté testy.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7406640" y="1417320"/>
            <a:ext cx="0" cy="4297680"/>
          </a:xfrm>
          <a:prstGeom prst="line">
            <a:avLst/>
          </a:prstGeom>
          <a:noFill/>
          <a:ln w="15240">
            <a:solidFill>
              <a:srgbClr val="D6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Architecture Document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29284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2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Shrnutí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9418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085"/>
                </a:solidFill>
              </a:rPr>
              <a:t>Hlavní architektonická myšlenka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41248" y="1600200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52236"/>
                </a:solidFill>
              </a:rPr>
              <a:t>Systém odděluje obchodní rozhodování, podpůrnou AI analýzu a prezentaci výsledků.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60120" y="3200400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1288" y="3127248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52236"/>
                </a:solidFill>
              </a:rPr>
              <a:t>Python část řeší strategii, indikátory, exekuci a backtesting.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60120" y="3685032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1288" y="3611880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52236"/>
                </a:solidFill>
              </a:rPr>
              <a:t>PHP backend zpřístupňuje webová data, AI wrapper a analytické endpointy.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60120" y="4169664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4096512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52236"/>
                </a:solidFill>
              </a:rPr>
              <a:t>MySQL vytváří společnou perzistentní vrstvu pro výsledky a historii.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960120" y="4654296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4581144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52236"/>
                </a:solidFill>
              </a:rPr>
              <a:t>Návrh je jednoduchý, modulární a vhodný pro další rozšiřování.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60120" y="5623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Děkuji za pozornost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Architecture Document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29284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Semestralni projekt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Vyhledavani vzoru a technicke analyzy kryptomen</dc:title>
  <dc:subject>Software Architecture Document</dc:subject>
  <dc:creator>Jan Prikryl</dc:creator>
  <cp:lastModifiedBy>Jan Prikryl</cp:lastModifiedBy>
  <cp:revision>1</cp:revision>
  <dcterms:created xsi:type="dcterms:W3CDTF">2026-05-08T11:42:31Z</dcterms:created>
  <dcterms:modified xsi:type="dcterms:W3CDTF">2026-05-08T11:42:31Z</dcterms:modified>
</cp:coreProperties>
</file>